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Azeret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826904-F699-430F-896C-A3FA3B0226D7}">
  <a:tblStyle styleId="{E0826904-F699-430F-896C-A3FA3B0226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zeretMono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AzeretMono-italic.fntdata"/><Relationship Id="rId10" Type="http://schemas.openxmlformats.org/officeDocument/2006/relationships/slide" Target="slides/slide4.xml"/><Relationship Id="rId32" Type="http://schemas.openxmlformats.org/officeDocument/2006/relationships/font" Target="fonts/Azeret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Azeret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3926978"/>
            <a:ext cx="5143500" cy="13315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30466" y="1599307"/>
            <a:ext cx="853106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AI-Powered Video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71925" y="2658367"/>
            <a:ext cx="42481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38E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Prompt to Polished Film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24250" y="4317503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National University of Computer and Emerging Sciences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524250" y="5067299"/>
            <a:ext cx="514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Technical Implementation Report &amp; Results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511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31511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151137"/>
            <a:ext cx="336559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Modular Agentic Design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160537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 built the system as 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phase-oriented pipeline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Each agent acts as an autonomous specialist, consuming a structured state and producing a verifiable artifact.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4150" y="35797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77901" y="43798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Decoupled Logic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4846587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Separated inference from orchestration to allow individual phase reruns.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163" y="35797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4629101" y="43798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Fallback Chain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98950" y="4846587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Implemented Groq → Ollama → Local logic to ensure 100% uptime.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6700" y="35797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280298" y="4379862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Async Execution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50150" y="4846587"/>
            <a:ext cx="27940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Used FastAPI background tasks for long-running video synthesis.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0037"/>
            <a:ext cx="50482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Strict Typed Contracts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21605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 avoid "integration hell," we enforced strict schemas using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Pydantic v2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Every phase speaks the same language.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38225" y="3265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326543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ProjectState: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Single source of truth.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38225" y="35702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43000" y="3570237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Asset Map: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Tracks physical paths of generated media.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38225" y="41798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43000" y="4179837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TimingManifest: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Syncs dialogue with visual frames.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0037"/>
            <a:ext cx="50482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0037"/>
            <a:ext cx="50482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Story &amp; Character Identity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047750" y="2627262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8E49"/>
                </a:solidFill>
                <a:latin typeface="Inter"/>
                <a:ea typeface="Inter"/>
                <a:cs typeface="Inter"/>
                <a:sym typeface="Inter"/>
              </a:rPr>
              <a:t>How we did it: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47750" y="309398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Used specific System Prompts to force JSON output from LLMs. Extracted character metadata early to anchor visual descriptions.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67500" y="2627262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8E49"/>
                </a:solidFill>
                <a:latin typeface="Inter"/>
                <a:ea typeface="Inter"/>
                <a:cs typeface="Inter"/>
                <a:sym typeface="Inter"/>
              </a:rPr>
              <a:t>Identity Anchoring: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67500" y="309398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Used Pollinations API to create "Casting Portraits." These serve as reference points for the Video Agent to maintain consistency.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High-Fidelity Audio Synthesis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762000" y="2160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{E0826904-F699-430F-896C-A3FA3B0226D7}</a:tableStyleId>
              </a:tblPr>
              <a:tblGrid>
                <a:gridCol w="2466375"/>
                <a:gridCol w="2920450"/>
                <a:gridCol w="5281175"/>
              </a:tblGrid>
              <a:tr h="4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Our 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Why it worked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4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Natural Speech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Edge-TTS (Neural)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cost, high emotional range.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Dialogue Sync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Dialogue 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Mapped characters to timestamps.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Multi-Speaker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Voice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Assigned gender/pitch per character.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7"/>
          <p:cNvSpPr/>
          <p:nvPr/>
        </p:nvSpPr>
        <p:spPr>
          <a:xfrm>
            <a:off x="762000" y="3127325"/>
            <a:ext cx="24663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228379" y="3127325"/>
            <a:ext cx="29204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148833" y="3127325"/>
            <a:ext cx="52811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62000" y="3622625"/>
            <a:ext cx="24663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228379" y="3622625"/>
            <a:ext cx="29204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148833" y="3622625"/>
            <a:ext cx="52811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62000" y="4117925"/>
            <a:ext cx="24663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228379" y="4117925"/>
            <a:ext cx="29204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148833" y="4117925"/>
            <a:ext cx="52811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Video Synthesis &amp; Synchronization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2148333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The Generation Strategy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255790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 leveraged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Wan2.1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via a Gradio client. Prompts were dynamically enriched with character metadata and lighting cues from Phase 1.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81750" y="2148333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Lip-Sync Methodology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2557908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Instead of global sync, we performed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Segment-wise Lip-Sync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We split video by dialogue timestamps, applied Wav2Lip to active segments, and merged using FFmpeg.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08337"/>
            <a:ext cx="234687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5709" y="3608337"/>
            <a:ext cx="234687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419" y="3608337"/>
            <a:ext cx="234687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3129" y="3608337"/>
            <a:ext cx="234687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Immutable State Snapshotting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21605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key challenge was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Undo/Redo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We solved this by treating the project directory as a versioned vault.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762000" y="2927290"/>
            <a:ext cx="10668000" cy="381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81075" y="3827412"/>
            <a:ext cx="200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State Capture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81075" y="4208412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Serialize Pydantic object to state.json.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754784" y="3827412"/>
            <a:ext cx="200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Asset Mirroring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3754784" y="4208412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Copy physical files to version folder.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528494" y="3827412"/>
            <a:ext cx="200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Pointer Update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528494" y="4208412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Update "Latest" pointer in metadata.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302204" y="3827412"/>
            <a:ext cx="200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Reversion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302204" y="4208412"/>
            <a:ext cx="190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Restoring state restores full UI context.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350"/>
            <a:ext cx="12192000" cy="70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Results: What We Achieved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91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Result: A fully autonomous system capable of generating consistent, edited short films in minutes.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118741" y="3334648"/>
            <a:ext cx="3467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E38E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Optimized</a:t>
            </a:r>
            <a:endParaRPr sz="100"/>
          </a:p>
        </p:txBody>
      </p:sp>
      <p:sp>
        <p:nvSpPr>
          <p:cNvPr id="196" name="Google Shape;196;p20"/>
          <p:cNvSpPr txBox="1"/>
          <p:nvPr/>
        </p:nvSpPr>
        <p:spPr>
          <a:xfrm>
            <a:off x="1708100" y="4099619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40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PRODUCTION TIME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533876" y="2999779"/>
            <a:ext cx="1619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E38E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533876" y="4099619"/>
            <a:ext cx="1619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40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STEPS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045326" y="3066752"/>
            <a:ext cx="1438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E38E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045326" y="4099619"/>
            <a:ext cx="1438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40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UNDO LAYERS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00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9700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70037"/>
            <a:ext cx="336559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Lessons Learned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4150" y="2398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977901" y="31987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Contract over Code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047750" y="3665487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Defining the JSON schema first saved 50+ hours of integration debugging.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398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29101" y="31987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Local vs Cloud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698950" y="3665487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Local models (Ollama) are vital for cost control but need high-end VRAM.</a:t>
            </a:r>
            <a:endParaRPr/>
          </a:p>
        </p:txBody>
      </p:sp>
      <p:pic>
        <p:nvPicPr>
          <p:cNvPr descr="image.png" id="217" name="Google Shape;21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6700" y="2398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280298" y="3198762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Modular UX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350150" y="3665487"/>
            <a:ext cx="27940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Visual progress polling is better than a simple loading spinner.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We Would Do Differently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1000125" y="4234308"/>
            <a:ext cx="10429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Reflection: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The bottleneck remains Video VRAM. Moving to a distributed GPU worker pool would be our next priority.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62000" y="2148333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1. Intent Classification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255790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Instead of rule-based parsing, we'd use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LangGraph</a:t>
            </a: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for more complex edit requests (e.g., "Make the tone darker").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81750" y="2148333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C4033"/>
                </a:solidFill>
                <a:latin typeface="Inter"/>
                <a:ea typeface="Inter"/>
                <a:cs typeface="Inter"/>
                <a:sym typeface="Inter"/>
              </a:rPr>
              <a:t>2. Caching Layer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81750" y="255790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We'd implement a per-prompt content hash to avoid regenerating identical audio/video clips during edits.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00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970037"/>
            <a:ext cx="33654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70037"/>
            <a:ext cx="336559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62000" y="95086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C403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Future Roadmap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762000" y="1655712"/>
            <a:ext cx="10668000" cy="28575"/>
          </a:xfrm>
          <a:prstGeom prst="rect">
            <a:avLst/>
          </a:prstGeom>
          <a:solidFill>
            <a:srgbClr val="E38E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6525" y="23986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977901" y="31987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Fine-tuned Voice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47750" y="3665487"/>
            <a:ext cx="279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Integration of ElevenLabs for higher emotional fidelity.</a:t>
            </a:r>
            <a:endParaRPr/>
          </a:p>
        </p:txBody>
      </p:sp>
      <p:pic>
        <p:nvPicPr>
          <p:cNvPr descr="image.png" id="245" name="Google Shape;24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163" y="23986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4629101" y="3198762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Resolution Upscaling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698950" y="3665487"/>
            <a:ext cx="279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Real-ESRGAN post-processing for 4K delivery.</a:t>
            </a:r>
            <a:endParaRPr/>
          </a:p>
        </p:txBody>
      </p:sp>
      <p:pic>
        <p:nvPicPr>
          <p:cNvPr descr="image.png" id="248" name="Google Shape;2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09075" y="23986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8280298" y="3198762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Agent Self-Correction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350150" y="3665487"/>
            <a:ext cx="27940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Vision-agents to "watch" the video and auto-correct glitches.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4030741" y="2071687"/>
            <a:ext cx="4130516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048125" y="3509962"/>
            <a:ext cx="4095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38E49"/>
                </a:solidFill>
                <a:latin typeface="Inter"/>
                <a:ea typeface="Inter"/>
                <a:cs typeface="Inter"/>
                <a:sym typeface="Inter"/>
              </a:rPr>
              <a:t>AI-Powered Video Generation System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2643187" y="4485233"/>
            <a:ext cx="690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Umer Farooq | Muhammad Usman | Muhammad Irtaza | Muhammad Ahmed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938712" y="5266283"/>
            <a:ext cx="231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zeret Mono"/>
                <a:ea typeface="Azeret Mono"/>
                <a:cs typeface="Azeret Mono"/>
                <a:sym typeface="Azeret Mono"/>
              </a:rPr>
              <a:t>FAST NUCES Islamabad © </a:t>
            </a:r>
            <a:r>
              <a:rPr lang="en-US" sz="1050">
                <a:solidFill>
                  <a:srgbClr val="1A1A1A"/>
                </a:solidFill>
                <a:latin typeface="Azeret Mono"/>
                <a:ea typeface="Azeret Mono"/>
                <a:cs typeface="Azeret Mono"/>
                <a:sym typeface="Azeret Mono"/>
              </a:rPr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